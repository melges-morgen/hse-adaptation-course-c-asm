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8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60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49.xml" ContentType="application/vnd.openxmlformats-officedocument.presentationml.slide+xml"/>
  <Override PartName="/ppt/slides/slide57.xml" ContentType="application/vnd.openxmlformats-officedocument.presentationml.slide+xml"/>
  <Override PartName="/ppt/slides/slide29.xml" ContentType="application/vnd.openxmlformats-officedocument.presentationml.slide+xml"/>
  <Override PartName="/ppt/slides/slide2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14.xml" ContentType="application/vnd.openxmlformats-officedocument.presentationml.slide+xml"/>
  <Override PartName="/ppt/slides/slide37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48.xml" ContentType="application/vnd.openxmlformats-officedocument.presentationml.slide+xml"/>
  <Override PartName="/ppt/slides/slide31.xml" ContentType="application/vnd.openxmlformats-officedocument.presentationml.slide+xml"/>
  <Override PartName="/ppt/slides/slide4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38.xml" ContentType="application/vnd.openxmlformats-officedocument.presentationml.slide+xml"/>
  <Override PartName="/ppt/slides/slide44.xml" ContentType="application/vnd.openxmlformats-officedocument.presentationml.slide+xml"/>
  <Override PartName="/ppt/slides/slide56.xml" ContentType="application/vnd.openxmlformats-officedocument.presentationml.slide+xml"/>
  <Override PartName="/ppt/slides/slide24.xml" ContentType="application/vnd.openxmlformats-officedocument.presentationml.slide+xml"/>
  <Override PartName="/ppt/slides/slide50.xml" ContentType="application/vnd.openxmlformats-officedocument.presentationml.slide+xml"/>
  <Override PartName="/ppt/slides/slide53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4" r:id="rId4"/>
    <p:sldMasterId id="214748365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5.xml"/><Relationship Id="rId5" Type="http://schemas.openxmlformats.org/officeDocument/2006/relationships/slideMaster" Target="slideMasters/slideMaster8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Титуль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еория без важных деталей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opbar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tag_bg"/>
          <p:cNvSpPr/>
          <p:nvPr/>
        </p:nvSpPr>
        <p:spPr>
          <a:xfrm>
            <a:off x="460080" y="205920"/>
            <a:ext cx="1096920" cy="319680"/>
          </a:xfrm>
          <a:prstGeom prst="roundRect">
            <a:avLst>
              <a:gd name="adj" fmla="val 300000000"/>
            </a:avLst>
          </a:prstGeom>
          <a:solidFill>
            <a:srgbClr val="1a1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ag"/>
          <p:cNvSpPr/>
          <p:nvPr/>
        </p:nvSpPr>
        <p:spPr>
          <a:xfrm>
            <a:off x="445320" y="2116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000" b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ТЕОРИЯ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Прямоугольник: скругленные углы 15"/>
          <p:cNvSpPr/>
          <p:nvPr/>
        </p:nvSpPr>
        <p:spPr>
          <a:xfrm>
            <a:off x="454320" y="731520"/>
            <a:ext cx="8223480" cy="653400"/>
          </a:xfrm>
          <a:prstGeom prst="roundRect">
            <a:avLst>
              <a:gd name="adj" fmla="val 27090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lang="ru-RU" sz="2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Прямоугольник: скругленные углы 3"/>
          <p:cNvSpPr/>
          <p:nvPr/>
        </p:nvSpPr>
        <p:spPr>
          <a:xfrm>
            <a:off x="460080" y="1667520"/>
            <a:ext cx="8223480" cy="3065400"/>
          </a:xfrm>
          <a:prstGeom prst="roundRect">
            <a:avLst>
              <a:gd name="adj" fmla="val 5577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еория с важной информацией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opbar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tag_bg"/>
          <p:cNvSpPr/>
          <p:nvPr/>
        </p:nvSpPr>
        <p:spPr>
          <a:xfrm>
            <a:off x="460080" y="205920"/>
            <a:ext cx="1096920" cy="319680"/>
          </a:xfrm>
          <a:prstGeom prst="roundRect">
            <a:avLst>
              <a:gd name="adj" fmla="val 300000000"/>
            </a:avLst>
          </a:prstGeom>
          <a:solidFill>
            <a:srgbClr val="1a1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tag"/>
          <p:cNvSpPr/>
          <p:nvPr/>
        </p:nvSpPr>
        <p:spPr>
          <a:xfrm>
            <a:off x="445320" y="2116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000" b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ТЕОРИЯ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Прямоугольник: скругленные углы 15"/>
          <p:cNvSpPr/>
          <p:nvPr/>
        </p:nvSpPr>
        <p:spPr>
          <a:xfrm>
            <a:off x="454320" y="731520"/>
            <a:ext cx="8223480" cy="653400"/>
          </a:xfrm>
          <a:prstGeom prst="roundRect">
            <a:avLst>
              <a:gd name="adj" fmla="val 27090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lang="ru-RU" sz="2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Прямоугольник: скругленные углы 3"/>
          <p:cNvSpPr/>
          <p:nvPr/>
        </p:nvSpPr>
        <p:spPr>
          <a:xfrm>
            <a:off x="460080" y="1667520"/>
            <a:ext cx="5313240" cy="3065400"/>
          </a:xfrm>
          <a:prstGeom prst="roundRect">
            <a:avLst>
              <a:gd name="adj" fmla="val 5577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5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Прямоугольник: скругленные углы 5"/>
          <p:cNvSpPr/>
          <p:nvPr/>
        </p:nvSpPr>
        <p:spPr>
          <a:xfrm>
            <a:off x="6037560" y="2121840"/>
            <a:ext cx="2646000" cy="2611080"/>
          </a:xfrm>
          <a:prstGeom prst="roundRect">
            <a:avLst>
              <a:gd name="adj" fmla="val 7148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5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89" name="Группа 10"/>
          <p:cNvGrpSpPr/>
          <p:nvPr/>
        </p:nvGrpSpPr>
        <p:grpSpPr>
          <a:xfrm>
            <a:off x="6037560" y="1667520"/>
            <a:ext cx="2645640" cy="325800"/>
            <a:chOff x="6037560" y="1667520"/>
            <a:chExt cx="2645640" cy="325800"/>
          </a:xfrm>
        </p:grpSpPr>
        <p:sp>
          <p:nvSpPr>
            <p:cNvPr id="90" name="tag_bg"/>
            <p:cNvSpPr/>
            <p:nvPr/>
          </p:nvSpPr>
          <p:spPr>
            <a:xfrm>
              <a:off x="6072120" y="1667520"/>
              <a:ext cx="2611080" cy="319680"/>
            </a:xfrm>
            <a:prstGeom prst="roundRect">
              <a:avLst>
                <a:gd name="adj" fmla="val 300000000"/>
              </a:avLst>
            </a:prstGeom>
            <a:solidFill>
              <a:srgbClr val="00d4a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1" name="tag"/>
            <p:cNvSpPr/>
            <p:nvPr/>
          </p:nvSpPr>
          <p:spPr>
            <a:xfrm>
              <a:off x="6037560" y="1673640"/>
              <a:ext cx="261108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ru-RU" sz="1000" b="1" u="none" strike="noStrike">
                  <a:solidFill>
                    <a:srgbClr val="1a1b2f"/>
                  </a:solidFill>
                  <a:effectLst/>
                  <a:uFillTx/>
                  <a:latin typeface="Calibri"/>
                </a:rPr>
                <a:t>Важно</a:t>
              </a:r>
              <a:endParaRPr lang="ru-RU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22440" y="179388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Теория с важной информацией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opbar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tag_bg"/>
          <p:cNvSpPr/>
          <p:nvPr/>
        </p:nvSpPr>
        <p:spPr>
          <a:xfrm>
            <a:off x="460080" y="205920"/>
            <a:ext cx="1096920" cy="319680"/>
          </a:xfrm>
          <a:prstGeom prst="roundRect">
            <a:avLst>
              <a:gd name="adj" fmla="val 300000000"/>
            </a:avLst>
          </a:prstGeom>
          <a:solidFill>
            <a:srgbClr val="1a1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tag"/>
          <p:cNvSpPr/>
          <p:nvPr/>
        </p:nvSpPr>
        <p:spPr>
          <a:xfrm>
            <a:off x="445320" y="2116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000" b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ТЕОРИЯ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Прямоугольник: скругленные углы 15"/>
          <p:cNvSpPr/>
          <p:nvPr/>
        </p:nvSpPr>
        <p:spPr>
          <a:xfrm>
            <a:off x="454320" y="731520"/>
            <a:ext cx="8223480" cy="653400"/>
          </a:xfrm>
          <a:prstGeom prst="roundRect">
            <a:avLst>
              <a:gd name="adj" fmla="val 27090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lang="ru-RU" sz="2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Прямоугольник: скругленные углы 3"/>
          <p:cNvSpPr/>
          <p:nvPr/>
        </p:nvSpPr>
        <p:spPr>
          <a:xfrm>
            <a:off x="460080" y="1667520"/>
            <a:ext cx="4655520" cy="3065400"/>
          </a:xfrm>
          <a:prstGeom prst="roundRect">
            <a:avLst>
              <a:gd name="adj" fmla="val 5577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5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Прямоугольник: скругленные углы 5"/>
          <p:cNvSpPr/>
          <p:nvPr/>
        </p:nvSpPr>
        <p:spPr>
          <a:xfrm>
            <a:off x="5322960" y="2121840"/>
            <a:ext cx="3360600" cy="2611080"/>
          </a:xfrm>
          <a:prstGeom prst="roundRect">
            <a:avLst>
              <a:gd name="adj" fmla="val 7148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5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01" name="Группа 10"/>
          <p:cNvGrpSpPr/>
          <p:nvPr/>
        </p:nvGrpSpPr>
        <p:grpSpPr>
          <a:xfrm>
            <a:off x="5277960" y="1667520"/>
            <a:ext cx="3405600" cy="325800"/>
            <a:chOff x="5277960" y="1667520"/>
            <a:chExt cx="3405600" cy="325800"/>
          </a:xfrm>
        </p:grpSpPr>
        <p:sp>
          <p:nvSpPr>
            <p:cNvPr id="102" name="tag_bg"/>
            <p:cNvSpPr/>
            <p:nvPr/>
          </p:nvSpPr>
          <p:spPr>
            <a:xfrm>
              <a:off x="5322960" y="1667520"/>
              <a:ext cx="3360600" cy="319680"/>
            </a:xfrm>
            <a:prstGeom prst="roundRect">
              <a:avLst>
                <a:gd name="adj" fmla="val 300000000"/>
              </a:avLst>
            </a:prstGeom>
            <a:solidFill>
              <a:srgbClr val="00d4a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3" name="tag"/>
            <p:cNvSpPr/>
            <p:nvPr/>
          </p:nvSpPr>
          <p:spPr>
            <a:xfrm>
              <a:off x="5277960" y="1673640"/>
              <a:ext cx="336060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ru-RU" sz="1000" b="1" u="none" strike="noStrike">
                  <a:solidFill>
                    <a:srgbClr val="1a1b2f"/>
                  </a:solidFill>
                  <a:effectLst/>
                  <a:uFillTx/>
                  <a:latin typeface="Calibri"/>
                </a:rPr>
                <a:t>Иллюстрация</a:t>
              </a:r>
              <a:endParaRPr lang="ru-RU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22440" y="1793880"/>
            <a:ext cx="430776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5425920" y="2228760"/>
            <a:ext cx="3212640" cy="240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д текстом">
    <p:bg>
      <p:bgPr>
        <a:solidFill>
          <a:srgbClr val="1a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opbar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ag_bg"/>
          <p:cNvSpPr/>
          <p:nvPr/>
        </p:nvSpPr>
        <p:spPr>
          <a:xfrm>
            <a:off x="548640" y="193320"/>
            <a:ext cx="822600" cy="319680"/>
          </a:xfrm>
          <a:prstGeom prst="roundRect">
            <a:avLst>
              <a:gd name="adj" fmla="val 300000000"/>
            </a:avLst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ag"/>
          <p:cNvSpPr/>
          <p:nvPr/>
        </p:nvSpPr>
        <p:spPr>
          <a:xfrm>
            <a:off x="548640" y="19332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000" b="1" u="none" strike="noStrike">
                <a:solidFill>
                  <a:srgbClr val="1a1b2f"/>
                </a:solidFill>
                <a:effectLst/>
                <a:uFillTx/>
                <a:latin typeface="Calibri"/>
              </a:rPr>
              <a:t>КОД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dot0"/>
          <p:cNvSpPr/>
          <p:nvPr/>
        </p:nvSpPr>
        <p:spPr>
          <a:xfrm>
            <a:off x="757440" y="1152720"/>
            <a:ext cx="109440" cy="109440"/>
          </a:xfrm>
          <a:prstGeom prst="ellipse">
            <a:avLst/>
          </a:prstGeom>
          <a:solidFill>
            <a:srgbClr val="ff5f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dot1"/>
          <p:cNvSpPr/>
          <p:nvPr/>
        </p:nvSpPr>
        <p:spPr>
          <a:xfrm>
            <a:off x="986040" y="1152720"/>
            <a:ext cx="109440" cy="109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dot2"/>
          <p:cNvSpPr/>
          <p:nvPr/>
        </p:nvSpPr>
        <p:spPr>
          <a:xfrm>
            <a:off x="1214640" y="1152720"/>
            <a:ext cx="109440" cy="109440"/>
          </a:xfrm>
          <a:prstGeom prst="ellipse">
            <a:avLst/>
          </a:prstGeom>
          <a:solidFill>
            <a:srgbClr val="28c8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codewin"/>
          <p:cNvSpPr/>
          <p:nvPr/>
        </p:nvSpPr>
        <p:spPr>
          <a:xfrm>
            <a:off x="548640" y="1371600"/>
            <a:ext cx="8319600" cy="3578040"/>
          </a:xfrm>
          <a:prstGeom prst="roundRect">
            <a:avLst>
              <a:gd name="adj" fmla="val 5604"/>
            </a:avLst>
          </a:prstGeom>
          <a:solidFill>
            <a:srgbClr val="0d1117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d4aa"/>
              </a:solidFill>
              <a:effectLst/>
              <a:uFillTx/>
              <a:latin typeface="Calibri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28560" y="651960"/>
            <a:ext cx="7886520" cy="43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28560" y="1517760"/>
            <a:ext cx="8116560" cy="3323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д одним изображением">
    <p:bg>
      <p:bgPr>
        <a:solidFill>
          <a:srgbClr val="1a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opbar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ag_bg"/>
          <p:cNvSpPr/>
          <p:nvPr/>
        </p:nvSpPr>
        <p:spPr>
          <a:xfrm>
            <a:off x="548640" y="193320"/>
            <a:ext cx="822600" cy="319680"/>
          </a:xfrm>
          <a:prstGeom prst="roundRect">
            <a:avLst>
              <a:gd name="adj" fmla="val 300000000"/>
            </a:avLst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ag"/>
          <p:cNvSpPr/>
          <p:nvPr/>
        </p:nvSpPr>
        <p:spPr>
          <a:xfrm>
            <a:off x="548640" y="19332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000" b="1" u="none" strike="noStrike">
                <a:solidFill>
                  <a:srgbClr val="1a1b2f"/>
                </a:solidFill>
                <a:effectLst/>
                <a:uFillTx/>
                <a:latin typeface="Calibri"/>
              </a:rPr>
              <a:t>КОД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dot0"/>
          <p:cNvSpPr/>
          <p:nvPr/>
        </p:nvSpPr>
        <p:spPr>
          <a:xfrm>
            <a:off x="757440" y="1152720"/>
            <a:ext cx="109440" cy="109440"/>
          </a:xfrm>
          <a:prstGeom prst="ellipse">
            <a:avLst/>
          </a:prstGeom>
          <a:solidFill>
            <a:srgbClr val="ff5f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dot1"/>
          <p:cNvSpPr/>
          <p:nvPr/>
        </p:nvSpPr>
        <p:spPr>
          <a:xfrm>
            <a:off x="986040" y="1152720"/>
            <a:ext cx="109440" cy="109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dot2"/>
          <p:cNvSpPr/>
          <p:nvPr/>
        </p:nvSpPr>
        <p:spPr>
          <a:xfrm>
            <a:off x="1214640" y="1152720"/>
            <a:ext cx="109440" cy="109440"/>
          </a:xfrm>
          <a:prstGeom prst="ellipse">
            <a:avLst/>
          </a:prstGeom>
          <a:solidFill>
            <a:srgbClr val="28c8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28560" y="597960"/>
            <a:ext cx="78865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28560" y="1441440"/>
            <a:ext cx="7886520" cy="330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д двумя изображениями">
    <p:bg>
      <p:bgPr>
        <a:solidFill>
          <a:srgbClr val="1a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opbar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ag_bg"/>
          <p:cNvSpPr/>
          <p:nvPr/>
        </p:nvSpPr>
        <p:spPr>
          <a:xfrm>
            <a:off x="548640" y="193320"/>
            <a:ext cx="822600" cy="319680"/>
          </a:xfrm>
          <a:prstGeom prst="roundRect">
            <a:avLst>
              <a:gd name="adj" fmla="val 300000000"/>
            </a:avLst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ag"/>
          <p:cNvSpPr/>
          <p:nvPr/>
        </p:nvSpPr>
        <p:spPr>
          <a:xfrm>
            <a:off x="548640" y="19332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000" b="1" u="none" strike="noStrike">
                <a:solidFill>
                  <a:srgbClr val="1a1b2f"/>
                </a:solidFill>
                <a:effectLst/>
                <a:uFillTx/>
                <a:latin typeface="Calibri"/>
              </a:rPr>
              <a:t>КОД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dot0"/>
          <p:cNvSpPr/>
          <p:nvPr/>
        </p:nvSpPr>
        <p:spPr>
          <a:xfrm>
            <a:off x="757440" y="1152720"/>
            <a:ext cx="109440" cy="109440"/>
          </a:xfrm>
          <a:prstGeom prst="ellipse">
            <a:avLst/>
          </a:prstGeom>
          <a:solidFill>
            <a:srgbClr val="ff5f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dot1"/>
          <p:cNvSpPr/>
          <p:nvPr/>
        </p:nvSpPr>
        <p:spPr>
          <a:xfrm>
            <a:off x="986040" y="1152720"/>
            <a:ext cx="109440" cy="109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dot2"/>
          <p:cNvSpPr/>
          <p:nvPr/>
        </p:nvSpPr>
        <p:spPr>
          <a:xfrm>
            <a:off x="1214640" y="1152720"/>
            <a:ext cx="109440" cy="109440"/>
          </a:xfrm>
          <a:prstGeom prst="ellipse">
            <a:avLst/>
          </a:prstGeom>
          <a:solidFill>
            <a:srgbClr val="28c8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28560" y="651960"/>
            <a:ext cx="7886520" cy="43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28560" y="1441440"/>
            <a:ext cx="3644640" cy="330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4870440" y="1441440"/>
            <a:ext cx="3644640" cy="330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Легкая задач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opbar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ag_bg"/>
          <p:cNvSpPr/>
          <p:nvPr/>
        </p:nvSpPr>
        <p:spPr>
          <a:xfrm>
            <a:off x="460080" y="205920"/>
            <a:ext cx="1096920" cy="319680"/>
          </a:xfrm>
          <a:prstGeom prst="roundRect">
            <a:avLst>
              <a:gd name="adj" fmla="val 300000000"/>
            </a:avLst>
          </a:prstGeom>
          <a:solidFill>
            <a:srgbClr val="1a1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ag"/>
          <p:cNvSpPr/>
          <p:nvPr/>
        </p:nvSpPr>
        <p:spPr>
          <a:xfrm>
            <a:off x="445320" y="2116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000" b="1" u="none" strike="noStrike">
              <a:solidFill>
                <a:srgbClr val="00d4aa"/>
              </a:solidFill>
              <a:effectLst/>
              <a:uFillTx/>
              <a:latin typeface="Calibri"/>
            </a:endParaRPr>
          </a:p>
        </p:txBody>
      </p:sp>
      <p:sp>
        <p:nvSpPr>
          <p:cNvPr id="136" name="Прямоугольник: скругленные углы 31"/>
          <p:cNvSpPr/>
          <p:nvPr/>
        </p:nvSpPr>
        <p:spPr>
          <a:xfrm>
            <a:off x="454320" y="731520"/>
            <a:ext cx="8223480" cy="653400"/>
          </a:xfrm>
          <a:prstGeom prst="roundRect">
            <a:avLst>
              <a:gd name="adj" fmla="val 27090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lang="ru-RU" sz="2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Прямоугольник: скругленные углы 33"/>
          <p:cNvSpPr/>
          <p:nvPr/>
        </p:nvSpPr>
        <p:spPr>
          <a:xfrm>
            <a:off x="460080" y="1667520"/>
            <a:ext cx="8223480" cy="3065400"/>
          </a:xfrm>
          <a:prstGeom prst="roundRect">
            <a:avLst>
              <a:gd name="adj" fmla="val 5577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587520" y="816120"/>
            <a:ext cx="7886520" cy="43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87520" y="257040"/>
            <a:ext cx="842760" cy="22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Self __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diff_bg"/>
          <p:cNvSpPr/>
          <p:nvPr/>
        </p:nvSpPr>
        <p:spPr>
          <a:xfrm>
            <a:off x="1783080" y="215640"/>
            <a:ext cx="1096920" cy="319680"/>
          </a:xfrm>
          <a:prstGeom prst="roundRect">
            <a:avLst>
              <a:gd name="adj" fmla="val 800000000"/>
            </a:avLst>
          </a:prstGeom>
          <a:solidFill>
            <a:srgbClr val="dcfc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diff_label"/>
          <p:cNvSpPr/>
          <p:nvPr/>
        </p:nvSpPr>
        <p:spPr>
          <a:xfrm>
            <a:off x="1783080" y="2156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100" b="1" u="none" strike="noStrike">
                <a:solidFill>
                  <a:srgbClr val="16a34a"/>
                </a:solidFill>
                <a:effectLst/>
                <a:uFillTx/>
                <a:latin typeface="Calibri"/>
              </a:rPr>
              <a:t>Easy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едняя задач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opbar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ag_bg"/>
          <p:cNvSpPr/>
          <p:nvPr/>
        </p:nvSpPr>
        <p:spPr>
          <a:xfrm>
            <a:off x="460080" y="205920"/>
            <a:ext cx="1096920" cy="319680"/>
          </a:xfrm>
          <a:prstGeom prst="roundRect">
            <a:avLst>
              <a:gd name="adj" fmla="val 300000000"/>
            </a:avLst>
          </a:prstGeom>
          <a:solidFill>
            <a:srgbClr val="1a1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ag"/>
          <p:cNvSpPr/>
          <p:nvPr/>
        </p:nvSpPr>
        <p:spPr>
          <a:xfrm>
            <a:off x="445320" y="2116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000" b="1" u="none" strike="noStrike">
              <a:solidFill>
                <a:srgbClr val="00d4aa"/>
              </a:solidFill>
              <a:effectLst/>
              <a:uFillTx/>
              <a:latin typeface="Calibri"/>
            </a:endParaRPr>
          </a:p>
        </p:txBody>
      </p:sp>
      <p:sp>
        <p:nvSpPr>
          <p:cNvPr id="146" name="Прямоугольник: скругленные углы 31"/>
          <p:cNvSpPr/>
          <p:nvPr/>
        </p:nvSpPr>
        <p:spPr>
          <a:xfrm>
            <a:off x="454320" y="731520"/>
            <a:ext cx="8223480" cy="653400"/>
          </a:xfrm>
          <a:prstGeom prst="roundRect">
            <a:avLst>
              <a:gd name="adj" fmla="val 27090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lang="ru-RU" sz="2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Прямоугольник: скругленные углы 33"/>
          <p:cNvSpPr/>
          <p:nvPr/>
        </p:nvSpPr>
        <p:spPr>
          <a:xfrm>
            <a:off x="460080" y="1667520"/>
            <a:ext cx="8223480" cy="3065400"/>
          </a:xfrm>
          <a:prstGeom prst="roundRect">
            <a:avLst>
              <a:gd name="adj" fmla="val 5577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87520" y="816120"/>
            <a:ext cx="7886520" cy="43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87520" y="257040"/>
            <a:ext cx="842760" cy="22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Self __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diff_bg"/>
          <p:cNvSpPr/>
          <p:nvPr/>
        </p:nvSpPr>
        <p:spPr>
          <a:xfrm>
            <a:off x="1783080" y="215640"/>
            <a:ext cx="1096920" cy="319680"/>
          </a:xfrm>
          <a:prstGeom prst="roundRect">
            <a:avLst>
              <a:gd name="adj" fmla="val 800000000"/>
            </a:avLst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diff_label"/>
          <p:cNvSpPr/>
          <p:nvPr/>
        </p:nvSpPr>
        <p:spPr>
          <a:xfrm>
            <a:off x="1783080" y="2156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f9933"/>
                </a:solidFill>
                <a:effectLst/>
                <a:uFillTx/>
                <a:latin typeface="Calibri"/>
              </a:rPr>
              <a:t>Medium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ложная задач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opbar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ag_bg"/>
          <p:cNvSpPr/>
          <p:nvPr/>
        </p:nvSpPr>
        <p:spPr>
          <a:xfrm>
            <a:off x="460080" y="205920"/>
            <a:ext cx="1096920" cy="319680"/>
          </a:xfrm>
          <a:prstGeom prst="roundRect">
            <a:avLst>
              <a:gd name="adj" fmla="val 300000000"/>
            </a:avLst>
          </a:prstGeom>
          <a:solidFill>
            <a:srgbClr val="1a1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ag"/>
          <p:cNvSpPr/>
          <p:nvPr/>
        </p:nvSpPr>
        <p:spPr>
          <a:xfrm>
            <a:off x="445320" y="2116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000" b="1" u="none" strike="noStrike">
              <a:solidFill>
                <a:srgbClr val="00d4aa"/>
              </a:solidFill>
              <a:effectLst/>
              <a:uFillTx/>
              <a:latin typeface="Calibri"/>
            </a:endParaRPr>
          </a:p>
        </p:txBody>
      </p:sp>
      <p:sp>
        <p:nvSpPr>
          <p:cNvPr id="156" name="Прямоугольник: скругленные углы 31"/>
          <p:cNvSpPr/>
          <p:nvPr/>
        </p:nvSpPr>
        <p:spPr>
          <a:xfrm>
            <a:off x="454320" y="731520"/>
            <a:ext cx="8223480" cy="653400"/>
          </a:xfrm>
          <a:prstGeom prst="roundRect">
            <a:avLst>
              <a:gd name="adj" fmla="val 27090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lang="ru-RU" sz="2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Прямоугольник: скругленные углы 33"/>
          <p:cNvSpPr/>
          <p:nvPr/>
        </p:nvSpPr>
        <p:spPr>
          <a:xfrm>
            <a:off x="460080" y="1667520"/>
            <a:ext cx="8223480" cy="3065400"/>
          </a:xfrm>
          <a:prstGeom prst="roundRect">
            <a:avLst>
              <a:gd name="adj" fmla="val 5577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87520" y="816120"/>
            <a:ext cx="7886520" cy="43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87520" y="257040"/>
            <a:ext cx="842760" cy="22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Self __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diff_bg"/>
          <p:cNvSpPr/>
          <p:nvPr/>
        </p:nvSpPr>
        <p:spPr>
          <a:xfrm>
            <a:off x="1783080" y="215640"/>
            <a:ext cx="1096920" cy="319680"/>
          </a:xfrm>
          <a:prstGeom prst="roundRect">
            <a:avLst>
              <a:gd name="adj" fmla="val 800000000"/>
            </a:avLst>
          </a:prstGeom>
          <a:solidFill>
            <a:srgbClr val="fddd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diff_label"/>
          <p:cNvSpPr/>
          <p:nvPr/>
        </p:nvSpPr>
        <p:spPr>
          <a:xfrm>
            <a:off x="1783080" y="2156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f5050"/>
                </a:solidFill>
                <a:effectLst/>
                <a:uFillTx/>
                <a:latin typeface="Calibri"/>
              </a:rPr>
              <a:t>Hard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дача без классификации по сложност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opbar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ag_bg"/>
          <p:cNvSpPr/>
          <p:nvPr/>
        </p:nvSpPr>
        <p:spPr>
          <a:xfrm>
            <a:off x="460080" y="205920"/>
            <a:ext cx="1096920" cy="319680"/>
          </a:xfrm>
          <a:prstGeom prst="roundRect">
            <a:avLst>
              <a:gd name="adj" fmla="val 300000000"/>
            </a:avLst>
          </a:prstGeom>
          <a:solidFill>
            <a:srgbClr val="1a1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ag"/>
          <p:cNvSpPr/>
          <p:nvPr/>
        </p:nvSpPr>
        <p:spPr>
          <a:xfrm>
            <a:off x="445320" y="2116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000" b="1" u="none" strike="noStrike">
              <a:solidFill>
                <a:srgbClr val="00d4aa"/>
              </a:solidFill>
              <a:effectLst/>
              <a:uFillTx/>
              <a:latin typeface="Calibri"/>
            </a:endParaRPr>
          </a:p>
        </p:txBody>
      </p:sp>
      <p:sp>
        <p:nvSpPr>
          <p:cNvPr id="166" name="Прямоугольник: скругленные углы 31"/>
          <p:cNvSpPr/>
          <p:nvPr/>
        </p:nvSpPr>
        <p:spPr>
          <a:xfrm>
            <a:off x="454320" y="731520"/>
            <a:ext cx="8223480" cy="653400"/>
          </a:xfrm>
          <a:prstGeom prst="roundRect">
            <a:avLst>
              <a:gd name="adj" fmla="val 27090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lang="ru-RU" sz="2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Прямоугольник: скругленные углы 33"/>
          <p:cNvSpPr/>
          <p:nvPr/>
        </p:nvSpPr>
        <p:spPr>
          <a:xfrm>
            <a:off x="460080" y="1667520"/>
            <a:ext cx="8223480" cy="3065400"/>
          </a:xfrm>
          <a:prstGeom prst="roundRect">
            <a:avLst>
              <a:gd name="adj" fmla="val 5577"/>
            </a:avLst>
          </a:prstGeom>
          <a:solidFill>
            <a:srgbClr val="1a1b2f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87520" y="816120"/>
            <a:ext cx="7886520" cy="43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87520" y="257040"/>
            <a:ext cx="842760" cy="22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Self __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rsor"/>
          <p:cNvSpPr/>
          <p:nvPr/>
        </p:nvSpPr>
        <p:spPr>
          <a:xfrm>
            <a:off x="731520" y="1371600"/>
            <a:ext cx="72720" cy="456840"/>
          </a:xfrm>
          <a:prstGeom prst="rect">
            <a:avLst/>
          </a:prstGeom>
          <a:solidFill>
            <a:srgbClr val="00d4aa"/>
          </a:solidFill>
          <a:ln w="0">
            <a:solidFill>
              <a:srgbClr val="00d4a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rompt"/>
          <p:cNvSpPr/>
          <p:nvPr/>
        </p:nvSpPr>
        <p:spPr>
          <a:xfrm>
            <a:off x="7803000" y="13129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00d4aa"/>
                </a:solidFill>
                <a:effectLst/>
                <a:uFillTx/>
                <a:latin typeface="Courier New"/>
              </a:rPr>
              <a:t>&gt; _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Shape 0"/>
          <p:cNvSpPr/>
          <p:nvPr/>
        </p:nvSpPr>
        <p:spPr>
          <a:xfrm>
            <a:off x="426600" y="42660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26600" y="15238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Shape 2"/>
          <p:cNvSpPr/>
          <p:nvPr/>
        </p:nvSpPr>
        <p:spPr>
          <a:xfrm>
            <a:off x="426600" y="371844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523880" y="42660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2072520" y="42670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Shape 10"/>
          <p:cNvSpPr/>
          <p:nvPr/>
        </p:nvSpPr>
        <p:spPr>
          <a:xfrm>
            <a:off x="2732760" y="468324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Shape 12"/>
          <p:cNvSpPr/>
          <p:nvPr/>
        </p:nvSpPr>
        <p:spPr>
          <a:xfrm>
            <a:off x="3169800" y="42670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Shape 14"/>
          <p:cNvSpPr/>
          <p:nvPr/>
        </p:nvSpPr>
        <p:spPr>
          <a:xfrm>
            <a:off x="3718440" y="371844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996120" y="451332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1577160" y="38476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3960000" y="276732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4745520" y="400320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Shape 7"/>
          <p:cNvSpPr/>
          <p:nvPr/>
        </p:nvSpPr>
        <p:spPr>
          <a:xfrm>
            <a:off x="3700440" y="98172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2714400" y="359280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4627800" y="455364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Shape 7"/>
          <p:cNvSpPr/>
          <p:nvPr/>
        </p:nvSpPr>
        <p:spPr>
          <a:xfrm>
            <a:off x="5548680" y="34408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Shape 7"/>
          <p:cNvSpPr/>
          <p:nvPr/>
        </p:nvSpPr>
        <p:spPr>
          <a:xfrm>
            <a:off x="3027960" y="44064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1961280" y="102132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5226120" y="59616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7934040" y="202212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5900760" y="430380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768240" y="274896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6539040" y="202212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3996720" y="195084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6557400" y="97380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Shape 7"/>
          <p:cNvSpPr/>
          <p:nvPr/>
        </p:nvSpPr>
        <p:spPr>
          <a:xfrm>
            <a:off x="8854560" y="2350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8680680" y="47736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8555400" y="262584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6930360" y="370440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7693920" y="401256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Shape 7"/>
          <p:cNvSpPr/>
          <p:nvPr/>
        </p:nvSpPr>
        <p:spPr>
          <a:xfrm>
            <a:off x="8309160" y="37054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Shape 7"/>
          <p:cNvSpPr/>
          <p:nvPr/>
        </p:nvSpPr>
        <p:spPr>
          <a:xfrm>
            <a:off x="7846200" y="44632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Shape 7"/>
          <p:cNvSpPr/>
          <p:nvPr/>
        </p:nvSpPr>
        <p:spPr>
          <a:xfrm>
            <a:off x="8815680" y="46468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cursor"/>
          <p:cNvSpPr/>
          <p:nvPr/>
        </p:nvSpPr>
        <p:spPr>
          <a:xfrm>
            <a:off x="731520" y="1371600"/>
            <a:ext cx="72720" cy="456840"/>
          </a:xfrm>
          <a:prstGeom prst="rect">
            <a:avLst/>
          </a:prstGeom>
          <a:solidFill>
            <a:srgbClr val="00d4aa"/>
          </a:solidFill>
          <a:ln w="0">
            <a:solidFill>
              <a:srgbClr val="00d4a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rompt"/>
          <p:cNvSpPr/>
          <p:nvPr/>
        </p:nvSpPr>
        <p:spPr>
          <a:xfrm>
            <a:off x="7803000" y="13129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00d4aa"/>
                </a:solidFill>
                <a:effectLst/>
                <a:uFillTx/>
                <a:latin typeface="Courier New"/>
              </a:rPr>
              <a:t>&gt; _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binary"/>
          <p:cNvSpPr/>
          <p:nvPr/>
        </p:nvSpPr>
        <p:spPr>
          <a:xfrm>
            <a:off x="6400800" y="45720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ru-RU" sz="800" b="0" i="1" u="none" strike="noStrike">
                <a:solidFill>
                  <a:srgbClr val="00d4aa"/>
                </a:solidFill>
                <a:effectLst/>
                <a:uFillTx/>
                <a:latin typeface="Courier New"/>
              </a:rPr>
              <a:t>01001101 10110010 01101001</a:t>
            </a:r>
            <a:endParaRPr lang="ru-RU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005840" y="1188720"/>
            <a:ext cx="6857640" cy="91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Тема</a:t>
            </a:r>
            <a:endParaRPr lang="ru-RU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1005840" y="2926080"/>
            <a:ext cx="6857640" cy="36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261"/>
              </a:spcBef>
              <a:buNone/>
              <a:tabLst>
                <a:tab algn="l" pos="0"/>
              </a:tabLst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Shape 0"/>
          <p:cNvSpPr/>
          <p:nvPr/>
        </p:nvSpPr>
        <p:spPr>
          <a:xfrm>
            <a:off x="426600" y="42660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Shape 1"/>
          <p:cNvSpPr/>
          <p:nvPr/>
        </p:nvSpPr>
        <p:spPr>
          <a:xfrm>
            <a:off x="426600" y="15238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426600" y="371844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1523880" y="42660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2072520" y="42670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2732760" y="468324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Shape 12"/>
          <p:cNvSpPr/>
          <p:nvPr/>
        </p:nvSpPr>
        <p:spPr>
          <a:xfrm>
            <a:off x="3169800" y="42670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3718440" y="371844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Shape 7"/>
          <p:cNvSpPr/>
          <p:nvPr/>
        </p:nvSpPr>
        <p:spPr>
          <a:xfrm>
            <a:off x="996120" y="451332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1577160" y="38476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3960000" y="276732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Shape 7"/>
          <p:cNvSpPr/>
          <p:nvPr/>
        </p:nvSpPr>
        <p:spPr>
          <a:xfrm>
            <a:off x="4745520" y="400320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3700440" y="98172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2714400" y="359280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Shape 7"/>
          <p:cNvSpPr/>
          <p:nvPr/>
        </p:nvSpPr>
        <p:spPr>
          <a:xfrm>
            <a:off x="4627800" y="455364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Shape 7"/>
          <p:cNvSpPr/>
          <p:nvPr/>
        </p:nvSpPr>
        <p:spPr>
          <a:xfrm>
            <a:off x="5548680" y="34408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3027960" y="44064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Shape 7"/>
          <p:cNvSpPr/>
          <p:nvPr/>
        </p:nvSpPr>
        <p:spPr>
          <a:xfrm>
            <a:off x="1961280" y="102132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5226120" y="59616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7934040" y="202212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5900760" y="430380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768240" y="274896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6539040" y="202212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Shape 7"/>
          <p:cNvSpPr/>
          <p:nvPr/>
        </p:nvSpPr>
        <p:spPr>
          <a:xfrm>
            <a:off x="3996720" y="195084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6557400" y="97380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Shape 7"/>
          <p:cNvSpPr/>
          <p:nvPr/>
        </p:nvSpPr>
        <p:spPr>
          <a:xfrm>
            <a:off x="6967080" y="16452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8854560" y="2350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Shape 7"/>
          <p:cNvSpPr/>
          <p:nvPr/>
        </p:nvSpPr>
        <p:spPr>
          <a:xfrm>
            <a:off x="8680680" y="47736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8555400" y="262584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Shape 7"/>
          <p:cNvSpPr/>
          <p:nvPr/>
        </p:nvSpPr>
        <p:spPr>
          <a:xfrm>
            <a:off x="6930360" y="370440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Shape 7"/>
          <p:cNvSpPr/>
          <p:nvPr/>
        </p:nvSpPr>
        <p:spPr>
          <a:xfrm>
            <a:off x="7693920" y="401256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8309160" y="37054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Shape 7"/>
          <p:cNvSpPr/>
          <p:nvPr/>
        </p:nvSpPr>
        <p:spPr>
          <a:xfrm>
            <a:off x="7846200" y="44632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Shape 7"/>
          <p:cNvSpPr/>
          <p:nvPr/>
        </p:nvSpPr>
        <p:spPr>
          <a:xfrm>
            <a:off x="8815680" y="4646880"/>
            <a:ext cx="36360" cy="363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  <p:sldLayoutId id="2147483660" r:id="rId3"/>
    <p:sldLayoutId id="2147483661" r:id="rId4"/>
    <p:sldLayoutId id="214748366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005840" y="1188720"/>
            <a:ext cx="6857640" cy="91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Кодирование и представление данных</a:t>
            </a:r>
            <a:endParaRPr lang="ru-RU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subTitle"/>
          </p:nvPr>
        </p:nvSpPr>
        <p:spPr>
          <a:xfrm>
            <a:off x="1005840" y="2103120"/>
            <a:ext cx="6857640" cy="45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14000"/>
              </a:lnSpc>
              <a:buNone/>
            </a:pPr>
            <a:r>
              <a:rPr lang="ru-RU" sz="1800" b="0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Коды, форматы хранения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501480" y="2926080"/>
            <a:ext cx="8064000" cy="86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14000"/>
              </a:lnSpc>
              <a:spcBef>
                <a:spcPts val="261"/>
              </a:spcBef>
              <a:buNone/>
              <a:tabLst>
                <a:tab algn="l" pos="0"/>
              </a:tabLst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Адаптационный курс «Введение в программирование»  |  ПИ, 1 курс</a:t>
            </a:r>
            <a:endParaRPr lang="ru-RU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14000"/>
              </a:lnSpc>
              <a:spcBef>
                <a:spcPts val="261"/>
              </a:spcBef>
              <a:buNone/>
              <a:tabLst>
                <a:tab algn="l" pos="0"/>
              </a:tabLst>
            </a:pPr>
            <a:r>
              <a:rPr lang="ru-RU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Лектор: Лесовская Ирина Николаевна, к.т.н., доцент Департамента программной инженерии ФКН НИУ ВШЭ</a:t>
            </a:r>
            <a:endParaRPr lang="ru-RU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Кодирование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91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Кодирование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— процесс представления информации в виде двоичных кодов для хранения и обработки в ЭВМ.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 этом разделе рассмотрим кодирование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А) хранимых данных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39640"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ddddb"/>
                </a:solidFill>
                <a:effectLst/>
                <a:uFillTx/>
                <a:latin typeface="Calibri"/>
              </a:rPr>
              <a:t>Кодирование графической информации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39640"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ddddb"/>
                </a:solidFill>
                <a:effectLst/>
                <a:uFillTx/>
                <a:latin typeface="Calibri"/>
              </a:rPr>
              <a:t>Кодирование звуковой информации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39640"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ddddb"/>
                </a:solidFill>
                <a:effectLst/>
                <a:uFillTx/>
                <a:latin typeface="Calibri"/>
              </a:rPr>
              <a:t>Кодирование символьных данных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39640"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ddddb"/>
                </a:solidFill>
                <a:effectLst/>
                <a:uFillTx/>
                <a:latin typeface="Calibri"/>
              </a:rPr>
              <a:t>Кодирование целых и вещественных чисел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В) средств обработки данных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Кодирование команд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Форматы хранения данных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Каждому типу данных, хранимому в памяти ЭВМ, соответствует двоичный формат представления. Формат задаёт количество разрядов разрядной сетки и правила кодирования.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</a:t>
            </a:r>
            <a:r>
              <a:rPr lang="ru-RU" sz="1800" b="0" u="none" strike="noStrike">
                <a:solidFill>
                  <a:srgbClr val="fddddb"/>
                </a:solidFill>
                <a:effectLst/>
                <a:uFillTx/>
                <a:latin typeface="Calibri"/>
              </a:rPr>
              <a:t>Кодирование = формат :  хранимые данные : правила кодирования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Базовыми типами данных являются числовые и символьные данные.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1. Кодирование графической информации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Графическая информация на экране монитора представляется в виде растрового изображения, которое формируется из определённого количества строк, которые, в свою очередь, содержат определённое количество точек (</a:t>
            </a:r>
            <a:r>
              <a:rPr lang="ru-RU" sz="16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пикселей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).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Чёрно-белое и цветное изображение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Для получения чёрно-белого изображения (без полутонов) пиксель может принимать только два состояния: «белый» или «чёрный». Тогда для его кодирования достаточно 1 бита: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 — белый, 0 — чёрный.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Пиксель на цветном экране может иметь различную окраску, поэтому одного бита на пиксель недостаточно. Для кодирования 4 цветов достаточно 2 бит: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00 — чёрный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01 — красный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10 — зелёный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11 — коричневый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Таблица 8-цветной палитры RGB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622440" y="171036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Для кодирования 8-цветного изображения требуется 3 бита памяти на один пиксель.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84" name="Таблица 4"/>
          <p:cNvGraphicFramePr/>
          <p:nvPr/>
        </p:nvGraphicFramePr>
        <p:xfrm>
          <a:off x="1831320" y="2061720"/>
          <a:ext cx="5468040" cy="2611440"/>
        </p:xfrm>
        <a:graphic>
          <a:graphicData uri="http://schemas.openxmlformats.org/drawingml/2006/table">
            <a:tbl>
              <a:tblPr/>
              <a:tblGrid>
                <a:gridCol w="1366920"/>
                <a:gridCol w="1366920"/>
                <a:gridCol w="1366920"/>
                <a:gridCol w="1366920"/>
              </a:tblGrid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Красный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Зеленый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Синий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Итоговый цвет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d4aa"/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Черный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Синий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Зеленый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Голубой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Красный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Розовый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Коричневый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Белый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Модель RGB и глубина цвета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Цветное изображение на экране монитора формируется за счёт смешивания трёх базовых цветов: </a:t>
            </a:r>
            <a:r>
              <a:rPr lang="ru-RU" sz="16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красного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, </a:t>
            </a:r>
            <a:r>
              <a:rPr lang="ru-RU" sz="16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зелёного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, </a:t>
            </a:r>
            <a:r>
              <a:rPr lang="ru-RU" sz="16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синего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(RGB).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Из трёх цветов можно получить 8 комбинаций (3 бита на пиксель).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Для получения богатой палитры цветов базовым цветам могут быть заданы различные интенсивности.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1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Шестнадцатицветная палитра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: 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</a:t>
            </a:r>
            <a:r>
              <a:rPr lang="ru-RU" sz="1600" b="0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4 бита (3 бита RGB + 1 бит интенсивности).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Формула палитры: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N = 2ᵖ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где N — кол-во цветов,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 — глубина цвета (бит на пиксель)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True Color: p=24 → 16 млн цветов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Векторная графика и разрешение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22440" y="173412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Также графическая информация может быть представлена в виде векторного изображения. </a:t>
            </a:r>
            <a:r>
              <a:rPr lang="ru-RU" sz="18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Векторное изображение</a:t>
            </a: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— графический объект, состоящий из элементарных отрезков и дуг. Положение этих элементов определяется координатами и математическими формулами.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Качество изображения определяется разрешающей способностью монитора, т.е. количеством точек, из которых оно складывается. Чем больше разрешающая способность, тем больше количество строк растра и точек в строке, тем выше качество.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22800" y="74988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2. Кодирование звуковой информации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 начала 90-х годов персональные компьютеры получили возможность работать со звуковой информацией. Каждый компьютер, имеющий звуковую плату, микрофон и колонки, может записывать, сохранять и воспроизводить звуковую информацию.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Звук представляет собой звуковую волну с непрерывно меняющейся амплитудой и частотой. Чем больше амплитуда, тем он громче для человека, чем больше частота сигнала, тем выше тон.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Дискретизация звука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622440" y="171036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Аудиоадаптер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(звуковая плата) — специальное устройство для преобразования электрических колебаний звуковой частоты в числовой двоичный код при вводе звука и для обратного преобразования при воспроизведении.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 процессе записи звука аудиоадаптер с определённым периодом измеряет амплитуду электрического тока и заносит в регистр двоичный код полученной величины. Затем полученный код переписывается в оперативную память.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4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Частота дискретизации </a:t>
            </a: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— количество измерений входного сигнала за 1 секунду (Гц).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4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Разрядность регистра </a:t>
            </a: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— </a:t>
            </a:r>
            <a:r>
              <a:rPr lang="ru-RU" sz="1400" b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число бит в регистре </a:t>
            </a: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аудиоадаптера. Определяет точность измерения.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3. Кодирование символьных данных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Кодирование символов </a:t>
            </a: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это представление символов (букв, специальных символов и цифр) за счёт их числовых кодов.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ЭВМ рассматривает символы как целые беззнаковые числа, хранимые в формате с фиксированной длиной.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На практике используются кодировки с разным количеством байт.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Кодировка ASCII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ASCII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(American Standard Coding for Information Interchange) обычно используется на мини и микро-ЭВМ.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Один байт обеспечивает 2⁸ = 256 кодируемых символов.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Таблица кодировки ASCII состоит из двух частей: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• Стандартная часть (0–127): латинские буквы, цифры, знаки препинания, управляющие символы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• Расширенная часть (128–255): национальные алфавиты, псевдографика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Кодировки ISO и Unicode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622440" y="174600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ISO (International Standards Organization) регламентирует различные виды деятельности, включая информационные технологии. В результате стандартизации кодировок появились различные расширения ASCII.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Unicode появилась в результате стремления создать универсальную кодировку для всех возможных алфавитов, включая ноты, символы математических и химических формул, иероглифы и т.п.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 UTF-16: </a:t>
            </a:r>
            <a:r>
              <a:rPr lang="ru-RU" sz="15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2 байта 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→ </a:t>
            </a:r>
            <a:r>
              <a:rPr lang="ru-RU" sz="15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65535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символов. Кодировка символов с кодами 0–127 совпадает с ASCII.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Unicode широко используется, в том числе в качестве стандартной кодировки в </a:t>
            </a:r>
            <a:r>
              <a:rPr lang="ru-RU" sz="15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C#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и </a:t>
            </a:r>
            <a:r>
              <a:rPr lang="ru-RU" sz="15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Java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Распространённые кириллические кодировки: UTF-8, Windows-1251, CP-866, KOI-8R, ISO-8859-5.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rgbClr val="ff5050"/>
                </a:solidFill>
                <a:effectLst/>
                <a:uFillTx/>
                <a:latin typeface="Calibri"/>
              </a:rPr>
              <a:t>Код = формат + способ кодирования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Для кодирования чисел в ЭВМ используются разрядные сетки 8-, 16-, 32- .. Разрядов.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Целые числа как правило хранятся в разрядной сетке, где старший разряд используется для знака числа (0 – положительное, 1 – отрицательное)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Вещественные числа хранятся в форматах с плавающей запятой одинарной и двойной точности </a:t>
            </a: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(float double)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Кодирование чисел  а) целочисленное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   б) вещественных чисел  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4. Кодирование целых чисел 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Используется прямой, обратный и дополнительный коды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1. Код целого положительного числа: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А прямой = А обратный = А дополнительный  (просто вписываем число в разрядную сетку)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2. Код отрицательного числа вычисляется.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Формат целых чисел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 ЭВМ используются два формата представления целых чисел: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1. Формат с фиксированной точкой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2. Двоично-десятичный формат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Формат с фиксированной точкой: варианты разрядной сетки имеют строго фиксированное число разрядов и кратны длине байта: 1 байт, 2 байта, 4 байта.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Положение точки подразумевается справа от младшего разряда.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Диапазон целых без знака: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 байт: 0–255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 байта: 0–65535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Целые со знаком (допкод):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 байт: -128…127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 байта: -32768...32767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Двоично-десятичный формат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Двоично-десятичный формат: количество разрядов зависит от количества десятичных цифр исходного числа.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 связи с техническими сложностями обеспечения выполнения базовых математических операций данный формат применяется ограниченно.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Формат с фиксированной точкой является основным форматом представления целых чисел в ЭВМ.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4.1. Прямой код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Для представления целого числа со знаком в разрядной сетке шириной n используется прямой код.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Правило: старший (левый) разряд — знаковый: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• 0 — положительное число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• 1 — отрицательное число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Остальные n-1 разрядов содержат модуль числа в двоичном представлении.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Знаковый разряд: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 → «+»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 → «–»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Остальные разряды — модуль числа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Прямой код: пример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Пример: Получить прямой 5-ти разрядный код числа A₁₀ = -7.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1. |A₁₀| = 7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2. |A₂| = 111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3. Записываем модуль в разрядную сетку (5 разрядов):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Прямой код: 10111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15" name="Таблица 3"/>
          <p:cNvGraphicFramePr/>
          <p:nvPr/>
        </p:nvGraphicFramePr>
        <p:xfrm>
          <a:off x="711360" y="3337200"/>
          <a:ext cx="2303640" cy="610560"/>
        </p:xfrm>
        <a:graphic>
          <a:graphicData uri="http://schemas.openxmlformats.org/drawingml/2006/table">
            <a:tbl>
              <a:tblPr/>
              <a:tblGrid>
                <a:gridCol w="1152000"/>
                <a:gridCol w="1152000"/>
              </a:tblGrid>
              <a:tr h="288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Знак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Модуль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d4aa"/>
                    </a:solidFill>
                  </a:tcPr>
                </a:tc>
              </a:tr>
              <a:tr h="288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0111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Прямой код: диапазон значений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Для n-разрядного прямого кода: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Максимальное положительное число: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A⁺</a:t>
            </a:r>
            <a:r>
              <a:rPr lang="ru-RU" sz="1600" b="0" u="none" strike="noStrike" baseline="-25000">
                <a:solidFill>
                  <a:schemeClr val="lt1"/>
                </a:solidFill>
                <a:effectLst/>
                <a:uFillTx/>
                <a:latin typeface="Calibri"/>
              </a:rPr>
              <a:t>max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= 2ⁿ⁻¹ – 1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Максимальное по модулю отрицательное число: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A⁻</a:t>
            </a:r>
            <a:r>
              <a:rPr lang="ru-RU" sz="1600" b="0" u="none" strike="noStrike" baseline="-25000">
                <a:solidFill>
                  <a:schemeClr val="lt1"/>
                </a:solidFill>
                <a:effectLst/>
                <a:uFillTx/>
                <a:latin typeface="Calibri"/>
              </a:rPr>
              <a:t>max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= -(2ⁿ⁻¹ – 1)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Пример при n = 5: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A⁺</a:t>
            </a:r>
            <a:r>
              <a:rPr lang="ru-RU" sz="1600" b="0" u="none" strike="noStrike" baseline="-25000">
                <a:solidFill>
                  <a:schemeClr val="lt1"/>
                </a:solidFill>
                <a:effectLst/>
                <a:uFillTx/>
                <a:latin typeface="Calibri"/>
              </a:rPr>
              <a:t>max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= 2⁴ – 1 = 15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A⁻</a:t>
            </a:r>
            <a:r>
              <a:rPr lang="ru-RU" sz="1600" b="0" u="none" strike="noStrike" baseline="-25000">
                <a:solidFill>
                  <a:schemeClr val="lt1"/>
                </a:solidFill>
                <a:effectLst/>
                <a:uFillTx/>
                <a:latin typeface="Calibri"/>
              </a:rPr>
              <a:t>max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= -(2⁴ – 1) = -15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Проблема прямого кода: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Неоднозначное представление нуля!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При n = 5: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 0 0 0 0 → +0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 0 0 0 0 → -0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Два разных кода для одного числа.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Недостатки прямого кода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Кодирование целых чисел со знаком в прямых кодах в ЭВМ практически не применяется, так как: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1. Для операций над прямыми кодами требуется помимо сумматора наличие вычитателя.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2. Есть проблема неоднозначного представления нуля: +0 и -0 имеют разные коды.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Прямой код используется как первый этап вычисления обратного и дополнительного кодов.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4.2. Обратный код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 отличие от прямого кода при вычислении обратных кодов и выполнении операций над ними используются одинаковые правила обработки всех разрядов, включая знаковый.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Обратный n-разрядный двоичный код образуется по правилу: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• Для положительного числа — в n-разрядную сетку записывается его двоичное представление (совпадает с прямым кодом).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• Для отрицательного числа — записывается разность между наибольшим числом без знака и модулем кодируемого числа, что эквивалентно инверсии всех разрядов.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Для положительных: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А</a:t>
            </a:r>
            <a:r>
              <a:rPr lang="ru-RU" sz="1600" b="0" u="none" strike="noStrike" baseline="-25000">
                <a:solidFill>
                  <a:srgbClr val="ffffff"/>
                </a:solidFill>
                <a:effectLst/>
                <a:uFillTx/>
                <a:latin typeface="Calibri"/>
              </a:rPr>
              <a:t>обр</a:t>
            </a: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= А</a:t>
            </a:r>
            <a:r>
              <a:rPr lang="ru-RU" sz="1600" b="0" u="none" strike="noStrike" baseline="-25000">
                <a:solidFill>
                  <a:srgbClr val="ffffff"/>
                </a:solidFill>
                <a:effectLst/>
                <a:uFillTx/>
                <a:latin typeface="Calibri"/>
              </a:rPr>
              <a:t>пр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Для отрицательных: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Инверсия всех разрядов прямого кода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Обратный код: пример в двоичной СС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Пример: Определить обратный код числа A₁₀ = -22 при n=16.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Двоичное кодирование (для отрицательных удобнее применять инверсию):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1. |A₁₀| = 22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2. |A₂| = 10110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3. |A₂| в разрядной сетке: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  0000 0000 0001 0110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4. (A₂)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обр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 инверсия: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  1111 1111 1110 1001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Шестнадцатеричное представление обратного кода: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FFE9₁₆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Обратный код: пример в СС16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Шестнадцатеричное кодирование числа A₁₀ = -22 при n=16.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Так как кодируется отрицательное число, необходимо вычислить дополнение: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1. |A₁₀| = 22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2. |A₁₆| = 16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3. (A₁₆)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обр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F F F F   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максимальное число без знака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- 0 0 1 6   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модуль в разрядной сетке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F F E 9₁₆  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обратный код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Обратный код: пример в СС8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Восьмеричное кодирование числа A₁₀ = -22 при n=16.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Восьмеричное значение кодируется путём вычисления дополнения от максимального значения.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Пять значащих разрядов в СС8 вмещают 16 двоичных разрядов: 8⁵ &lt; 2¹⁶.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1. |A₁₀| = 22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2. |A₈| = 26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3. (A₈)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обр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1 7 7 7 7 7   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максимальное число без знака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- 0 0 0 0 2 6   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модуль в разрядной сетке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 7 7 7 5 1₈  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обратный код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Обратный код: диапазон и свойства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Диапазон чисел в обратном коде: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indent="0" defTabSz="914400">
              <a:lnSpc>
                <a:spcPct val="114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ru-RU" sz="14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A⁺</a:t>
            </a:r>
            <a:r>
              <a:rPr lang="ru-RU" sz="14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max</a:t>
            </a:r>
            <a:r>
              <a:rPr lang="ru-RU" sz="14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 2ⁿ⁻¹ – 1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indent="0" defTabSz="914400">
              <a:lnSpc>
                <a:spcPct val="114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ru-RU" sz="14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A⁻</a:t>
            </a:r>
            <a:r>
              <a:rPr lang="ru-RU" sz="14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min</a:t>
            </a:r>
            <a:r>
              <a:rPr lang="ru-RU" sz="14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 -(2ⁿ⁻¹ – 1)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 операциях сложения и вычитания над обратными кодами достаточно использовать сумматор, поскольку вычитание может быть заменено сложением с дополнением вычитаемого: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defTabSz="914400">
              <a:lnSpc>
                <a:spcPct val="114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4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                      (С)</a:t>
            </a:r>
            <a:r>
              <a:rPr lang="ru-RU" sz="14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обр</a:t>
            </a:r>
            <a:r>
              <a:rPr lang="ru-RU" sz="14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 (А)</a:t>
            </a:r>
            <a:r>
              <a:rPr lang="ru-RU" sz="14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обр</a:t>
            </a:r>
            <a:r>
              <a:rPr lang="ru-RU" sz="14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+ (В)</a:t>
            </a:r>
            <a:r>
              <a:rPr lang="ru-RU" sz="14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обр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defTabSz="914400">
              <a:lnSpc>
                <a:spcPct val="114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4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       (С)</a:t>
            </a:r>
            <a:r>
              <a:rPr lang="ru-RU" sz="14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обр</a:t>
            </a:r>
            <a:r>
              <a:rPr lang="ru-RU" sz="14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 (А)</a:t>
            </a:r>
            <a:r>
              <a:rPr lang="ru-RU" sz="14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обр</a:t>
            </a:r>
            <a:r>
              <a:rPr lang="ru-RU" sz="14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- (В)</a:t>
            </a:r>
            <a:r>
              <a:rPr lang="ru-RU" sz="14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обр</a:t>
            </a:r>
            <a:r>
              <a:rPr lang="ru-RU" sz="14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 (А)</a:t>
            </a:r>
            <a:r>
              <a:rPr lang="ru-RU" sz="14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обр</a:t>
            </a:r>
            <a:r>
              <a:rPr lang="ru-RU" sz="14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+ ((В)</a:t>
            </a:r>
            <a:r>
              <a:rPr lang="ru-RU" sz="14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обр</a:t>
            </a:r>
            <a:r>
              <a:rPr lang="ru-RU" sz="14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)</a:t>
            </a:r>
            <a:r>
              <a:rPr lang="ru-RU" sz="14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обр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Знаковый разряд обрабатывается совместно с другими.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Проблема остаётся: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Неоднозначное представление нуля!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При n = 5: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 0 0 0 0 → +0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 1 1 1 1 → -0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4.3. Дополнительный код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Дополнительный код вычисляется на основе прямого и обратного кодов, поэтому обладает всеми их достоинствами и устраняет главный недостаток — неоднозначность кодирования нуля.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Для положительного числа: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А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пр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 А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обр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 А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доп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Дополнительный код отрицательного числа может быть получен из его обратного кода путём прибавления единицы в младший разряд.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Для положительных: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А</a:t>
            </a:r>
            <a:r>
              <a:rPr lang="ru-RU" sz="1600" b="0" u="none" strike="noStrike" baseline="-25000">
                <a:solidFill>
                  <a:srgbClr val="ffffff"/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= А</a:t>
            </a:r>
            <a:r>
              <a:rPr lang="ru-RU" sz="1600" b="0" u="none" strike="noStrike" baseline="-25000">
                <a:solidFill>
                  <a:srgbClr val="ffffff"/>
                </a:solidFill>
                <a:effectLst/>
                <a:uFillTx/>
                <a:latin typeface="Calibri"/>
              </a:rPr>
              <a:t>пр</a:t>
            </a: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= А</a:t>
            </a:r>
            <a:r>
              <a:rPr lang="ru-RU" sz="1600" b="0" u="none" strike="noStrike" baseline="-25000">
                <a:solidFill>
                  <a:srgbClr val="ffffff"/>
                </a:solidFill>
                <a:effectLst/>
                <a:uFillTx/>
                <a:latin typeface="Calibri"/>
              </a:rPr>
              <a:t>обр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Для отрицательных: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А</a:t>
            </a:r>
            <a:r>
              <a:rPr lang="ru-RU" sz="1600" b="0" u="none" strike="noStrike" baseline="-25000">
                <a:solidFill>
                  <a:srgbClr val="ffffff"/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= А</a:t>
            </a:r>
            <a:r>
              <a:rPr lang="ru-RU" sz="1600" b="0" u="none" strike="noStrike" baseline="-25000">
                <a:solidFill>
                  <a:srgbClr val="ffffff"/>
                </a:solidFill>
                <a:effectLst/>
                <a:uFillTx/>
                <a:latin typeface="Calibri"/>
              </a:rPr>
              <a:t>обр</a:t>
            </a: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+ 1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Дополнительный код: пример в СС</a:t>
            </a:r>
            <a:r>
              <a:rPr lang="ru-RU" sz="2800" b="1" u="none" strike="noStrike" baseline="-25000">
                <a:solidFill>
                  <a:schemeClr val="lt1"/>
                </a:solidFill>
                <a:effectLst/>
                <a:uFillTx/>
                <a:latin typeface="Calibri"/>
              </a:rPr>
              <a:t>16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Пример: определить дополнительный код числа A₁₆ = -1D8 при n=16.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Для отрицательного шестнадцатеричного числа вычисляется дополнение: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1. |A₁₆| = 1D8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2. (A₁₆)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обр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      F F F F   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максимальное число без знака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- 0 1 D 8   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модуль в разрядной сетке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F E 2 7   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обратный код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    +      </a:t>
            </a:r>
            <a:r>
              <a:rPr lang="en-US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1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(A₁₆)доп = F E 2 8₁₆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дополнительный код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Дополнительный код: пример в СС</a:t>
            </a:r>
            <a:r>
              <a:rPr lang="ru-RU" sz="2800" b="1" u="none" strike="noStrike" baseline="-25000">
                <a:solidFill>
                  <a:schemeClr val="lt1"/>
                </a:solidFill>
                <a:effectLst/>
                <a:uFillTx/>
                <a:latin typeface="Calibri"/>
              </a:rPr>
              <a:t>8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Пример: определить дополнительный код числа A₈ = -730 при n=16.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1. |A₈| = 730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2. (A₈)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обр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1 7 7 7 7 7   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максимальное число без знака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- 0 0 0 7 3 0   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модуль в разрядной сетке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1 7 7 0 4 7   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обратный код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+         </a:t>
            </a:r>
            <a:r>
              <a:rPr lang="en-US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 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 1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(A₈)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 1 7 7 0 5 0₈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дополнительный код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Однозначное представление нуля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Дополнительный код обеспечивает однозначное представление нуля: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 </a:t>
            </a:r>
            <a:r>
              <a:rPr lang="ru-RU" sz="15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 = 5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: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0 0 0 0 0 → +0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Вычисляем дополнительный код для -0: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1 1 1 1 1 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→ инверсия модуля -0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+         1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(1)0 0 0 0 0 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→ перенос 1 из старшего разряда за пределы разрядной сетки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Итого: </a:t>
            </a:r>
            <a:r>
              <a:rPr lang="ru-RU" sz="15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0 0 0 0 0 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дополнительный код -0 совпадает с +0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Диапазон чисел в дополнительном коде: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A⁺</a:t>
            </a:r>
            <a:r>
              <a:rPr lang="ru-RU" sz="1600" b="0" u="none" strike="noStrike" baseline="-25000">
                <a:solidFill>
                  <a:srgbClr val="ffffff"/>
                </a:solidFill>
                <a:effectLst/>
                <a:uFillTx/>
                <a:latin typeface="Calibri"/>
              </a:rPr>
              <a:t>max</a:t>
            </a: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= 2ⁿ⁻¹ – 1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A⁻</a:t>
            </a:r>
            <a:r>
              <a:rPr lang="ru-RU" sz="1600" b="0" u="none" strike="noStrike" baseline="-25000">
                <a:solidFill>
                  <a:srgbClr val="ffffff"/>
                </a:solidFill>
                <a:effectLst/>
                <a:uFillTx/>
                <a:latin typeface="Calibri"/>
              </a:rPr>
              <a:t>min</a:t>
            </a: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= -2ⁿ⁻¹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Диапазон несимметричен!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4.4. Операции в дополнительном коде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Операция сложения в дополнительных кодах выполняется по правилам арифметики. Перед выполнением операции вычитания для вычитаемого вычисляется дополнение (дополнительный код дополнительного кода).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Порядок обработки разрядов одинаков для знакового и информационных разрядов: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defTabSz="914400">
              <a:lnSpc>
                <a:spcPct val="114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	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	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(С)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 (А)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+ (В)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доп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defTabSz="914400">
              <a:lnSpc>
                <a:spcPct val="114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	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(С)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 (А)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- (В)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= (А)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+ ((В)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доп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Операции в допкоде: вычисление кодов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Пример: вычислить сумму и разность чисел A₁₀=3, B₁₀=-4. Длина разрядной сетки n=5.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Определим дополнительный код для A и B: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47" name="Таблица 4"/>
          <p:cNvGraphicFramePr/>
          <p:nvPr/>
        </p:nvGraphicFramePr>
        <p:xfrm>
          <a:off x="1753560" y="2457360"/>
          <a:ext cx="5623560" cy="2271960"/>
        </p:xfrm>
        <a:graphic>
          <a:graphicData uri="http://schemas.openxmlformats.org/drawingml/2006/table">
            <a:tbl>
              <a:tblPr/>
              <a:tblGrid>
                <a:gridCol w="2811600"/>
                <a:gridCol w="2811600"/>
              </a:tblGrid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B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d4aa"/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lang="en-US" sz="1200" b="1" u="none" strike="noStrike" baseline="-25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= 3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|B</a:t>
                      </a:r>
                      <a:r>
                        <a:rPr lang="en-US" sz="1200" b="1" u="none" strike="noStrike" baseline="-25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| = 4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lang="en-US" sz="1200" b="1" u="none" strike="noStrike" baseline="-25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= 11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|B</a:t>
                      </a:r>
                      <a:r>
                        <a:rPr lang="en-US" sz="1200" b="1" u="none" strike="noStrike" baseline="-25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| = 100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(A</a:t>
                      </a:r>
                      <a:r>
                        <a:rPr lang="en-US" sz="1200" b="1" u="none" strike="noStrike" baseline="-25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)</a:t>
                      </a:r>
                      <a:r>
                        <a:rPr lang="ru-RU" sz="1200" b="1" u="none" strike="noStrike" baseline="-25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доп</a:t>
                      </a:r>
                      <a:r>
                        <a:rPr lang="ru-RU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= 00011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(B2)</a:t>
                      </a:r>
                      <a:r>
                        <a:rPr lang="ru-RU" sz="1200" b="1" u="none" strike="noStrike" baseline="-25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доп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2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00100 – прямой код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2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11011 – обратный код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2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+1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2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11100 – дополнительный код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Операции в допкоде: сложение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88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Вычисление суммы (A₂)</a:t>
            </a:r>
            <a:r>
              <a:rPr lang="ru-RU" sz="1600" b="0" u="none" strike="noStrike" baseline="-25000">
                <a:solidFill>
                  <a:schemeClr val="lt1"/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+ (B₂)</a:t>
            </a:r>
            <a:r>
              <a:rPr lang="ru-RU" sz="1600" b="0" u="none" strike="noStrike" baseline="-25000">
                <a:solidFill>
                  <a:schemeClr val="lt1"/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: 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00011 + 11100 = 11111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Дополнительный код результата содержит 1 в знаковом разряде, т.е. это код отрицательного числа.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Проверка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— вычислим дополнение результата: 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11111₂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00000₂ 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инверсия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+       1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00001₂ = 1₁₀  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модуль десятичного результата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Результат: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-1₁₀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Проверка: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3 + (-4) = -1 ✓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Операции в допкоде: вычитание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Вычисление разности (A₂)</a:t>
            </a:r>
            <a:r>
              <a:rPr lang="ru-RU" sz="1600" b="0" u="none" strike="noStrike" baseline="-25000">
                <a:solidFill>
                  <a:schemeClr val="lt1"/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- (B₂)</a:t>
            </a:r>
            <a:r>
              <a:rPr lang="ru-RU" sz="1600" b="0" u="none" strike="noStrike" baseline="-25000">
                <a:solidFill>
                  <a:schemeClr val="lt1"/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1) Вычисляем дополнение к (B₂)</a:t>
            </a:r>
            <a:r>
              <a:rPr lang="ru-RU" sz="1600" b="0" u="none" strike="noStrike" baseline="-25000">
                <a:solidFill>
                  <a:schemeClr val="lt1"/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: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11111₂  -  11100₂ = 00011₂ + 1₂ = 00100₂  — ((B₂)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)</a:t>
            </a:r>
            <a:r>
              <a:rPr lang="ru-RU" sz="1600" b="0" i="1" u="none" strike="noStrike" baseline="-2500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доп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2) Вычисляем сумму: (A₂)</a:t>
            </a:r>
            <a:r>
              <a:rPr lang="ru-RU" sz="1600" b="0" u="none" strike="noStrike" baseline="-25000">
                <a:solidFill>
                  <a:schemeClr val="lt1"/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+ ((B₂)</a:t>
            </a:r>
            <a:r>
              <a:rPr lang="ru-RU" sz="1600" b="0" u="none" strike="noStrike" baseline="-25000">
                <a:solidFill>
                  <a:schemeClr val="lt1"/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)</a:t>
            </a:r>
            <a:r>
              <a:rPr lang="ru-RU" sz="1600" b="0" u="none" strike="noStrike" baseline="-25000">
                <a:solidFill>
                  <a:schemeClr val="lt1"/>
                </a:solidFill>
                <a:effectLst/>
                <a:uFillTx/>
                <a:latin typeface="Calibri"/>
              </a:rPr>
              <a:t>доп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: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00011₂ + 00100₂ = 00111₂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 знаковом разряде 0, т.е. результат положительный.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00111₂ = 7₁₀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Проверка: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3 – (-4) = 3 + 4 = 7 ✓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Переполнение разрядной сетки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622440" y="174024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Замена операции вычитания в дополнительном коде на сложение с дополнением позволяет вычислительному устройству выполнять сложение и вычитание с использованием одного устройства — сумматора.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Длина разрядной сетки фиксирована. При сложении кодов одинакового знака значение результата может выйти за границы диапазона чисел в данной разрядной сетке.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Переполнение возникает когда результат не помещается в разрядную сетку.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Признак: знак результата не совпадает с ожидаемым.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521280" y="779760"/>
            <a:ext cx="7886520" cy="5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55000" lnSpcReduction="19999"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5. Кодирование вещественных чисел.</a:t>
            </a:r>
            <a:br>
              <a:rPr sz="2800"/>
            </a:b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ru-RU" sz="2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5.1</a:t>
            </a: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.</a:t>
            </a:r>
            <a:r>
              <a:rPr lang="ru-RU" sz="2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Формат вещественных чисел</a:t>
            </a:r>
            <a:endParaRPr lang="ru-RU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Вещественное число можно записать как: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= M × Bᴱ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где M — </a:t>
            </a:r>
            <a:r>
              <a:rPr lang="ru-RU" sz="15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мантисса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(значащая часть),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B — основание (обычно 2 для компьютеров),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E — экспонента (порядок).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Чтобы запись была однозначной, мантиссу приводят к нормализованной форме: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 ≤ |M| &lt; B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 двоичной системе это означает, что целая часть мантиссы равна 1 (кроме нуля и денормализованных чисел). Соответственно, ведущая единица не хранится («скрытая единица»).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Структура числа с плавающей точкой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Число с плавающей точкой состоит из трёх частей: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1. Знак (1 бит)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2. Экспонента со смещением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3. Дробная часть мантиссы (без ведущей единицы, которая подразумевается)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Пример: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A₁₀ = 0.0235 × 10³ = 0.235 × 10² = 2.35 × 10¹ = 23.5 × 10⁰ = 235 × 10⁻¹ = 23.5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Стандарт IEEE 754 определяет форматы чисел с плавающей точкой, операции, округления, особые значения.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Одинарная точность (float, 32 бита)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501480" y="1689120"/>
            <a:ext cx="5154480" cy="300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Структура float (IEEE 754):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[1 бит знак | 8 бит экспонента | 23 бита мантисса]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Порядок записан со смещением (bias) = 127.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Истинная экспонента E = e − 127, где e — хранимое беззнаковое целое.</a:t>
            </a: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Если 0 &lt; e &lt; 255: нормализованное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Значение = </a:t>
            </a:r>
            <a:r>
              <a:rPr lang="ru-RU" sz="2000" b="1" u="none" strike="noStrike">
                <a:solidFill>
                  <a:srgbClr val="ff5050"/>
                </a:solidFill>
                <a:effectLst/>
                <a:uFillTx/>
                <a:latin typeface="Calibri"/>
              </a:rPr>
              <a:t>(-1)ˢ × 1.f × 2ᴱ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, </a:t>
            </a: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где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 </a:t>
            </a: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знак числа (0 или 1),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f (fraction) </a:t>
            </a: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это хвост дробной части, который физически записан в памяти (23 бита</a:t>
            </a: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).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ru-RU" sz="1400" b="0" i="1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скрытая единица      Порядок / Экспонента </a:t>
            </a:r>
            <a:r>
              <a:rPr lang="en-US" sz="1400" b="0" i="1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2ᴱ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Особые случаи: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e=0, f=0: ±0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e=0, f≠0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Денормализованные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e=255, f=0: ±∞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e=255, f≠0: NaN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" name="Rectangle 1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f</a:t>
            </a:r>
            <a:r>
              <a:rPr lang="ru-RU" sz="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(fraction) — это хвост дробной части, который физически записан в памяти (23 бита). </a:t>
            </a:r>
            <a:endParaRPr lang="ru-RU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3" name="Соединитель: изогнутый 6"/>
          <p:cNvCxnSpPr/>
          <p:nvPr/>
        </p:nvCxnSpPr>
        <p:spPr>
          <a:xfrm flipV="1">
            <a:off x="905760" y="3479760"/>
            <a:ext cx="1321200" cy="643680"/>
          </a:xfrm>
          <a:prstGeom prst="curvedConnector3">
            <a:avLst>
              <a:gd name="adj1" fmla="val 50013"/>
            </a:avLst>
          </a:prstGeom>
          <a:ln w="31750">
            <a:solidFill>
              <a:srgbClr val="ffff00"/>
            </a:solidFill>
            <a:tailEnd len="lg" type="triangle" w="lg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Двойная точность (double, 64 бита)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Структура double (IEEE 754):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[</a:t>
            </a:r>
            <a:r>
              <a:rPr lang="ru-RU" sz="1600" b="0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1 бит знак | 11 бит экспонента | 52 бита мантисса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]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Смещение bias = 1023.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 = 0...2046: нормализованные числа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 = 0: денормализованные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 = 2047: особые случаи (±∞, NaN)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float: ~7 значащих десятичных цифр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double: ~15–16 значащих десятичных цифр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Выбор типа зависит от требуемой точности.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Пример кодирования в float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Представим -12.625 в float IEEE 754.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1. Переведём модуль в двоичную: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12.625₁₀ = 1100.101₂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2. Нормализуем: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1.100101 × 2³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3. Экспонента истинная = 3, хранимая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e = 3 + 127 = 130 = </a:t>
            </a:r>
            <a:r>
              <a:rPr lang="ru-RU" sz="1600" b="0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10000010₂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4. Мантисса: отбрасываем ведущую 1 → </a:t>
            </a:r>
            <a:r>
              <a:rPr lang="ru-RU" sz="1600" b="1" u="none" strike="noStrike">
                <a:solidFill>
                  <a:srgbClr val="ffc000"/>
                </a:solidFill>
                <a:effectLst/>
                <a:uFillTx/>
                <a:latin typeface="Calibri"/>
              </a:rPr>
              <a:t>100101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00000000000000000 (23 бита)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5. Знак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S = 1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(отрицательное)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6. Собираем: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 </a:t>
            </a:r>
            <a:r>
              <a:rPr lang="ru-RU" sz="1600" b="0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10000010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ru-RU" sz="1600" b="1" u="none" strike="noStrike">
                <a:solidFill>
                  <a:srgbClr val="ffc000"/>
                </a:solidFill>
                <a:effectLst/>
                <a:uFillTx/>
                <a:latin typeface="Calibri"/>
              </a:rPr>
              <a:t>100101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00000000000000000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Hex: </a:t>
            </a:r>
            <a:r>
              <a:rPr lang="ru-RU" sz="16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C14A0000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Машинная точность (машинный эпсилон)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Машинный эпсилон ε — это разница между 1.0 и наименьшим числом, бо́льшим 1.0, которое представимо в данном формате.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Следующее представимое число получается увеличением мантиссы на единицу младшего разряда.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ε характеризует относительную плотность чисел: любое представимое число x и следующее за ним отличаются примерно в (1 + ε) раз.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Для float: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20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ε = 2⁻²³ ≈ 1.19 × 10⁻⁷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Для double: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20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ε = 2⁻⁵² ≈ 2.22 × 10⁻¹⁶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32500" lnSpcReduction="19999"/>
          </a:bodyPr>
          <a:p>
            <a:pPr indent="0" defTabSz="914400">
              <a:lnSpc>
                <a:spcPct val="114000"/>
              </a:lnSpc>
              <a:buNone/>
            </a:pPr>
            <a:br>
              <a:rPr sz="2800"/>
            </a:b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5.2. Арифметика чисел с плавающей точкой</a:t>
            </a:r>
            <a:br>
              <a:rPr sz="2800"/>
            </a:b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Внимание! Раздел 5.2. факультативный в рамках настоящего курса. Важно запомнить указания в блоке «Важно»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Арифметические операции с плавающей точкой сложнее целочисленных из-за необходимости выравнивания порядков, нормализации результата и округления.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Алгоритм сложения/вычитания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Пусть даны два нормализованных числа.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Алгоритм сложения: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1.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Выравнивание порядков: меньший порядок приводится к большему путём сдвига мантиссы вправо с увеличением экспоненты. Если разница порядков ≥ 25 (для float32), мантисса меньшего числа обнуляется.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2. 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Сложение мантисс как целых чисел с учётом знаков. Мантиссы представляются с учётом скрытой единицы и знака.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3. 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Нормализация результата: возможно потребуется сдвиг мантиссы влево или вправо на 1 разряд с коррекцией экспоненты.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4.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Округление: если точная мантисса имеет больше значащих разрядов, чем позволяет поле f, выполняется округление (по умолчанию к ближайшему чётному).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Пример сложения (точное)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622440" y="173412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Сложим 5.0 + 0.75 в float32.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Представление: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A = 5.0 = 1.01 × 2²     (E=2)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B = 0.75 = 1.1 × 2⁻¹    (E=-1)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Выравнивание: приводим к большему порядку E=2.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Мантиссу B сдвигаем вправо на 2-(-1) = 3 разряда: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B → 0.0011 × 2²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Пример сложения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(</a:t>
            </a: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продолжение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)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Сложение мантисс: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 1.0100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+0.0011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————————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  1.0111 × 2²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Нормализация не требуется (мантисса в [1,2)).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Результат: </a:t>
            </a:r>
            <a:r>
              <a:rPr lang="ru-RU" sz="1800" b="0" i="1" u="none" strike="noStrike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1.0111 × 2² = 5.75₁₀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Пример с округлением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622440" y="171036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Пусть разрядность дробной части ограничена 2 битами (для простоты). Сложим 1.0 и 0.3125.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После выравнивания и сложения: сумма при 4 битах дробной части.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Если мантисса хранит только 2 бита дробной части, то надо округлить до ближайшего.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 третьем бите после запятой = 1, а дальше нули — округляем к ближайшему чётному.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Катастрофическая потеря точности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622440" y="171612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Вычтем два близких числа (пусть 4 бита мантиссы).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После выравнивания B не меняется. Вычитаем мантиссы — получаем очень маленький результат.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Нужно нормализовать: сдвиг влево. Точность мантиссы вроде сохранилась, но если исходные числа были приближёнными, относительная погрешность резко возрастает.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Более драматичный пример: если числа хранятся с погрешностью, то разность может быть полностью потеряна.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Правило: </a:t>
            </a: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избегайте вычитания близких чисел с плавающей точкой!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Это приводит к потере значащих цифр.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Алгоритм умножения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622440" y="169236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1. Перемножение мантисс как целых чисел (с учётом скрытых единиц).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Если мантиссы </a:t>
            </a:r>
            <a:r>
              <a:rPr lang="ru-RU" sz="1500" b="0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1.fₓ 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и </a:t>
            </a:r>
            <a:r>
              <a:rPr lang="ru-RU" sz="1500" b="0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1.fᵧ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, то произведение </a:t>
            </a:r>
            <a:r>
              <a:rPr lang="ru-RU" sz="1500" b="0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P = (1+fₓ)×(1+fᵧ)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Возможен дополнительный перенос в целую часть.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2. Сложение экспонент: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</a:t>
            </a:r>
            <a:r>
              <a:rPr lang="ru-RU" sz="1500" b="0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E</a:t>
            </a:r>
            <a:r>
              <a:rPr lang="ru-RU" sz="1500" b="0" i="1" u="none" strike="noStrike" baseline="-25000">
                <a:solidFill>
                  <a:srgbClr val="00d4aa"/>
                </a:solidFill>
                <a:effectLst/>
                <a:uFillTx/>
                <a:latin typeface="Calibri"/>
              </a:rPr>
              <a:t>sum</a:t>
            </a:r>
            <a:r>
              <a:rPr lang="ru-RU" sz="1500" b="0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 = Eₓ + Eᵧ </a:t>
            </a: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(истинных, не хранимых со смещением; при реализации вычитают bias).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3. Нормализация: если произведение мантисс ≥ 2, сдвигаем вправо на 1 и увеличиваем экспоненту.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4. Округление до требуемой разрядности.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Алгоритм деления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1. Деление мантисс: </a:t>
            </a:r>
            <a:r>
              <a:rPr lang="ru-RU" sz="1600" b="0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Mₓ/Mᵧ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Поскольку обе мантиссы в [1, 2), частное лежит в (0.5, 2).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Если частное &lt; 1, потребуется нормализация (сдвиг влево).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2. Вычитание экспонент: </a:t>
            </a:r>
            <a:r>
              <a:rPr lang="ru-RU" sz="1600" b="0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Eₓ − Eᵧ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3. Нормализация и округление.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Особенности арифметики с плавающей точкой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622440" y="161460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Округление: если точное значение не представимо, оно округляется к ближайшему чётному (по умолчанию).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Поглощение: при сложении чисел с разными порядками меньший операнд может быть сдвинут до нуля. Пример: 1.0 + ε для float даст 1.0, если ε мало.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Потеря ассоциативности: из-за округлений (a+b)+c ≠ a+(b+c). Необходимо аккуратно выбирать порядок суммирования.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Не сравнивайте float на строгое равенство!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Используйте допустимую погрешность: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|a - b| &lt; ε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Суммируйте от меньших к большим для повышения точности.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6. Кодирование команд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Наряду с данными в оперативной памяти компьютера помещается программа управления его работой, команды которой кодируются последовательностью из нулей и единиц.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Машинные коды </a:t>
            </a: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 команды управления работой компьютера.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Машинная команда должна содержать в себе следующую информацию: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1. Какую операцию выполнить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2. Где находятся операнды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3. Куда поместить результат операции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4. Какую команду выполнять следующей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14000"/>
              </a:lnSpc>
              <a:buNone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Формат машинной команды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622440" y="171036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Для каждого процессора машинная команда имеет стандартный формат и строго фиксированную длину.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Команда состоит из кода операции и адресной части. Код операции определяет действие, которое должен выполнить процессор.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1" i="1" u="none" strike="noStrike">
                <a:solidFill>
                  <a:srgbClr val="00d4aa"/>
                </a:solidFill>
                <a:effectLst/>
                <a:uFillTx/>
                <a:latin typeface="Calibri"/>
              </a:rPr>
              <a:t>Пример трёхадресной команды: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[Код операции | Адрес 1 | Адрес 2 | Адрес 3]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Длина кода операции обычно зависит от числа операций, входящих в систему команд компьютера.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Код операции длиной p бит позволяет хранить коды до 2ᵖ различных команд.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Минимальная длина кода операции: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 ≥ log₂(P)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14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где P — количество команд в системе команд.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Система команд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 силу принципа активности команд содержимое ячеек памяти трактуется по месту их обработки в процессоре. Поэтому команда помимо адресов операндов должна содержать следующую информацию: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• Вид обработки операнда (собственно операция).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• Тип операнда, т.е. длину ячейки памяти и способ трактовки ее содержимого – целое число, вещественное число и т.д.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• Способ адресации операнда.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Обычно эта информация кодируется в поле КОП. Каждому значению КОП соответствует своя команда процессора (машинная команда). 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0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Система команд. </a:t>
            </a:r>
            <a:br>
              <a:rPr sz="3300"/>
            </a:br>
            <a:r>
              <a:rPr lang="ru-RU" sz="27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Примеры применения логических операций</a:t>
            </a:r>
            <a:endParaRPr lang="ru-RU" sz="2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5033880" cy="284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ffd966"/>
              </a:buClr>
              <a:buFont typeface="Arial"/>
              <a:buAutoNum type="arabicPeriod"/>
            </a:pPr>
            <a:r>
              <a:rPr lang="ru-RU" sz="1400" b="0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Calibri"/>
              </a:rPr>
              <a:t>Проверка состояния заданного бита</a:t>
            </a: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. Маска должна содержать единицу в проверяемом бите. Остальные биты маски нули. Выполняется битовая операция Результат рассматривается как целое число. Если оно отлично от нуля, то бит находится в единичном состоянии, а если равно нулю – то в нулевом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                          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выделяют следующие основные группы операций: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360" indent="-17136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Wingdings" charset="2"/>
              <a:buChar char=""/>
              <a:tabLst>
                <a:tab algn="l" pos="0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арифметические операции;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360" indent="-17136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Wingdings" charset="2"/>
              <a:buChar char=""/>
              <a:tabLst>
                <a:tab algn="l" pos="0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логические операции;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360" indent="-17136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Wingdings" charset="2"/>
              <a:buChar char=""/>
              <a:tabLst>
                <a:tab algn="l" pos="0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сдвиговые операции;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360" indent="-17136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Wingdings" charset="2"/>
              <a:buChar char=""/>
              <a:tabLst>
                <a:tab algn="l" pos="0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операции пересылки;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360" indent="-17136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Wingdings" charset="2"/>
              <a:buChar char=""/>
              <a:tabLst>
                <a:tab algn="l" pos="0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операции управления;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360" indent="-17136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Wingdings" charset="2"/>
              <a:buChar char=""/>
              <a:tabLst>
                <a:tab algn="l" pos="0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операции ввода-вывода.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02" name="Рисунок 4"/>
          <p:cNvPicPr/>
          <p:nvPr/>
        </p:nvPicPr>
        <p:blipFill>
          <a:blip r:embed="rId1"/>
          <a:stretch/>
        </p:blipFill>
        <p:spPr>
          <a:xfrm>
            <a:off x="622440" y="3038400"/>
            <a:ext cx="1428480" cy="59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3" name="Рисунок 6"/>
          <p:cNvPicPr/>
          <p:nvPr/>
        </p:nvPicPr>
        <p:blipFill>
          <a:blip r:embed="rId2"/>
          <a:stretch/>
        </p:blipFill>
        <p:spPr>
          <a:xfrm>
            <a:off x="1233360" y="3835440"/>
            <a:ext cx="4032000" cy="73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Примеры применения логических операций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Установка заданных бит в нулевое состояние. Маска должна содержать нули в интересующих битах. Остальные биты маски единичные. Выполняется битовая операция, ее результат записывается на место исходного кода. Единичные биты маски гарантируют сохранение состояния всех бит, кроме интересующих бит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06" name="Рисунок 3"/>
          <p:cNvPicPr/>
          <p:nvPr/>
        </p:nvPicPr>
        <p:blipFill>
          <a:blip r:embed="rId1"/>
          <a:stretch/>
        </p:blipFill>
        <p:spPr>
          <a:xfrm>
            <a:off x="1076400" y="3009960"/>
            <a:ext cx="5810040" cy="875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Примеры применения логических операций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Установка заданных бит в единичное состояние. Маска должна содержать единицы в интересующих битах. Остальные биты маски нулевые. Выполняется битовая операция ИЛИ. Результат записывается на место исходного кода. Нулевые биты маски гарантируют сохранение состояния всех бит, кроме интересующих бит.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09" name="Рисунок 3"/>
          <p:cNvPicPr/>
          <p:nvPr/>
        </p:nvPicPr>
        <p:blipFill>
          <a:blip r:embed="rId1"/>
          <a:stretch/>
        </p:blipFill>
        <p:spPr>
          <a:xfrm>
            <a:off x="1357200" y="3281400"/>
            <a:ext cx="5285880" cy="80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Сдвиговые операции - </a:t>
            </a: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выполняют направленное перемещение битов в пределах разрядной сетки. 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/>
          </p:nvPr>
        </p:nvSpPr>
        <p:spPr>
          <a:xfrm>
            <a:off x="622440" y="1793880"/>
            <a:ext cx="7886520" cy="277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Сдвиг в сторону старших разрядов называют сдвигом влево, а в сторону младших разрядов -  сдвигом вправо. В зависимости от способа заполнения освободившихся разрядов различают три вида сдвигов: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15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• Арифметический; 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15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• Логический;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15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• Циклический.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Арифметический сдвиг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13" name="Рисунок 4"/>
          <p:cNvPicPr/>
          <p:nvPr/>
        </p:nvPicPr>
        <p:blipFill>
          <a:blip r:embed="rId1"/>
          <a:stretch/>
        </p:blipFill>
        <p:spPr>
          <a:xfrm>
            <a:off x="578160" y="2346480"/>
            <a:ext cx="4968720" cy="126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Вытолкнутые биты теряются. 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 сдвиге влево освобождающиеся правые биты заполняются нулем. При сдвиге вправо освобождающиеся левые  биты заполняются значением старшего (знакового) бита.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Логический сдвиг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Логический сдвиг.  Независимо от направления сдвига освобождающиеся биты заполняются нулями. 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17" name="Рисунок 5"/>
          <p:cNvPicPr/>
          <p:nvPr/>
        </p:nvPicPr>
        <p:blipFill>
          <a:blip r:embed="rId1"/>
          <a:stretch/>
        </p:blipFill>
        <p:spPr>
          <a:xfrm>
            <a:off x="508320" y="2465640"/>
            <a:ext cx="5159520" cy="114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22800" y="779760"/>
            <a:ext cx="78865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Циклический сдвиг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6136920" y="2192040"/>
            <a:ext cx="2461320" cy="23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 циклическом сдвиге вытолкнутые биты записываются на место освободившихся битов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Типичной областью применения сдвигов является программная реализация умножения и деления.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20" name="Рисунок 4"/>
          <p:cNvPicPr/>
          <p:nvPr/>
        </p:nvPicPr>
        <p:blipFill>
          <a:blip r:embed="rId1"/>
          <a:stretch/>
        </p:blipFill>
        <p:spPr>
          <a:xfrm>
            <a:off x="833400" y="2192040"/>
            <a:ext cx="4512240" cy="171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итульный слайд">
  <a:themeElements>
    <a:clrScheme name="Office">
      <a:dk1>
        <a:srgbClr val="1a1b2f"/>
      </a:dk1>
      <a:lt1>
        <a:srgbClr val="f0f4f8"/>
      </a:lt1>
      <a:dk2>
        <a:srgbClr val="2d2f4e"/>
      </a:dk2>
      <a:lt2>
        <a:srgbClr val="ffffff"/>
      </a:lt2>
      <a:accent1>
        <a:srgbClr val="00d4aa"/>
      </a:accent1>
      <a:accent2>
        <a:srgbClr val="3b82f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ория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лайд с кодом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Задача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CS_Template</Template>
  <TotalTime>578</TotalTime>
  <Application>LibreOffice/25.8.4.2$Linux_X86_64 LibreOffice_project/290daaa01b999472f0c7a3890eb6a550fd74c6df</Application>
  <AppVersion>15.0000</AppVersion>
  <Words>4345</Words>
  <Paragraphs>537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2026-07-20T14:51:51Z</dcterms:created>
  <dc:creator>егор Кудрявцев</dc:creator>
  <dc:description/>
  <dc:language>ru-RU</dc:language>
  <cp:lastModifiedBy>Лесовская Ирина Николаевна</cp:lastModifiedBy>
  <dcterms:modified xsi:type="dcterms:W3CDTF">2026-09-17T13:14:17Z</dcterms:modified>
  <cp:revision>40</cp:revision>
  <dc:subject>Computer Science Template</dc:subject>
  <dc:title>Кодирование и представление данных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(16:9)</vt:lpwstr>
  </property>
  <property fmtid="{D5CDD505-2E9C-101B-9397-08002B2CF9AE}" pid="3" name="Slides">
    <vt:i4>60</vt:i4>
  </property>
</Properties>
</file>